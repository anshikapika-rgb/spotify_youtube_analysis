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Track 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Album</c:v>
                </c:pt>
                <c:pt idx="1">
                  <c:v>Single</c:v>
                </c:pt>
                <c:pt idx="2">
                  <c:v>Compilation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72.04</c:v>
                </c:pt>
                <c:pt idx="1">
                  <c:v>24.15</c:v>
                </c:pt>
                <c:pt idx="2">
                  <c:v>3.81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Licensing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True</c:v>
                </c:pt>
                <c:pt idx="1">
                  <c:v>False</c:v>
                </c:pt>
                <c:pt idx="2">
                  <c:v>Blank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68.25</c:v>
                </c:pt>
                <c:pt idx="1">
                  <c:v>29.48</c:v>
                </c:pt>
                <c:pt idx="2">
                  <c:v>2.27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10-13 121139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3000"/>
            <a:ext cx="5669280" cy="318222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1143000"/>
            <a:ext cx="4937760" cy="4389120"/>
          </a:xfrm>
          <a:prstGeom prst="roundRect">
            <a:avLst/>
          </a:prstGeom>
          <a:solidFill>
            <a:srgbClr val="283A32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3891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5F8F6"/>
                </a:solidFill>
                <a:latin typeface="Aptos"/>
              </a:rPr>
              <a:t>SPOTIFY &amp;
YOUTUBE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DB954"/>
                </a:solidFill>
                <a:latin typeface="Aptos"/>
              </a:rPr>
              <a:t>MUSIC PERFORMANCE
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BECCC4"/>
                </a:solidFill>
                <a:latin typeface="Aptos"/>
              </a:rPr>
              <a:t>An overview of streams, views, likes,
artist performance and monthly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5F8F6"/>
                </a:solidFill>
                <a:latin typeface="Aptos"/>
              </a:rPr>
              <a:t>POWER BI • DESCRIPTIVE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CC4"/>
                </a:solidFill>
                <a:latin typeface="Aptos"/>
              </a:rPr>
              <a:t>Dashboard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6"/>
                </a:solidFill>
                <a:latin typeface="Aptos"/>
              </a:rPr>
              <a:t>Dashboard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ECCC4"/>
                </a:solidFill>
                <a:latin typeface="Aptos"/>
              </a:rPr>
              <a:t>A single view of music engagement across Spotify and YouTube.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143000" cy="5029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1DB954"/>
                </a:solidFill>
                <a:latin typeface="Aptos"/>
              </a:rPr>
              <a:t>02</a:t>
            </a:r>
          </a:p>
        </p:txBody>
      </p:sp>
      <p:pic>
        <p:nvPicPr>
          <p:cNvPr id="6" name="Picture 5" descr="Screenshot 2026-10-13 121139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1328"/>
            <a:ext cx="10835640" cy="60821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035040"/>
            <a:ext cx="10515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ECCC4"/>
                </a:solidFill>
                <a:latin typeface="Aptos"/>
              </a:rPr>
              <a:t>The dashboard combines high-level KPIs with artist rankings, album-type distribution and monthly performance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6"/>
                </a:solidFill>
                <a:latin typeface="Aptos"/>
              </a:rP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ECCC4"/>
                </a:solidFill>
                <a:latin typeface="Aptos"/>
              </a:rPr>
              <a:t>Headline metrics summarise the scale of music consumption in the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143000" cy="5029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1DB954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578608" cy="1874519"/>
          </a:xfrm>
          <a:prstGeom prst="roundRect">
            <a:avLst/>
          </a:prstGeom>
          <a:solidFill>
            <a:srgbClr val="283A32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30428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DB954"/>
                </a:solidFill>
                <a:latin typeface="Aptos"/>
              </a:rPr>
              <a:t>3T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23042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Total Spotify 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17520"/>
            <a:ext cx="224942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ECCC4"/>
                </a:solidFill>
                <a:latin typeface="Aptos"/>
              </a:rPr>
              <a:t>Large-scale listening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645920"/>
            <a:ext cx="2578608" cy="1874519"/>
          </a:xfrm>
          <a:prstGeom prst="roundRect">
            <a:avLst/>
          </a:prstGeom>
          <a:solidFill>
            <a:srgbClr val="283A32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1874519"/>
            <a:ext cx="230428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E90FF"/>
                </a:solidFill>
                <a:latin typeface="Aptos"/>
              </a:rPr>
              <a:t>13bn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587752"/>
            <a:ext cx="23042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Total likes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17520"/>
            <a:ext cx="224942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ECCC4"/>
                </a:solidFill>
                <a:latin typeface="Aptos"/>
              </a:rPr>
              <a:t>Audience interaction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1645920"/>
            <a:ext cx="2578608" cy="1874519"/>
          </a:xfrm>
          <a:prstGeom prst="roundRect">
            <a:avLst/>
          </a:prstGeom>
          <a:solidFill>
            <a:srgbClr val="283A32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874519"/>
            <a:ext cx="230428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DB954"/>
                </a:solidFill>
                <a:latin typeface="Aptos"/>
              </a:rPr>
              <a:t>2T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587752"/>
            <a:ext cx="23042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Total YouTube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017520"/>
            <a:ext cx="224942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ECCC4"/>
                </a:solidFill>
                <a:latin typeface="Aptos"/>
              </a:rPr>
              <a:t>Video reach and discovery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4584" y="1645920"/>
            <a:ext cx="2578608" cy="1874519"/>
          </a:xfrm>
          <a:prstGeom prst="roundRect">
            <a:avLst/>
          </a:prstGeom>
          <a:solidFill>
            <a:srgbClr val="283A32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4" y="1874519"/>
            <a:ext cx="230428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E90FF"/>
                </a:solidFill>
                <a:latin typeface="Aptos"/>
              </a:rPr>
              <a:t>21K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587752"/>
            <a:ext cx="23042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Total tracks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3017520"/>
            <a:ext cx="224942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ECCC4"/>
                </a:solidFill>
                <a:latin typeface="Aptos"/>
              </a:rPr>
              <a:t>Breadth of the music catalogue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927080" cy="1417320"/>
          </a:xfrm>
          <a:prstGeom prst="roundRect">
            <a:avLst/>
          </a:prstGeom>
          <a:solidFill>
            <a:srgbClr val="1E2D27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18795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How to read these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57200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CCC4"/>
                </a:solidFill>
                <a:latin typeface="Aptos"/>
              </a:rPr>
              <a:t>Streams and views represent consumption; likes indicate engagement; total tracks describe the catalogue size. Together, they provide a quick baseline before exploring which artists and formats lead.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6"/>
                </a:solidFill>
                <a:latin typeface="Aptos"/>
              </a:rPr>
              <a:t>Top artists by Spotify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ECCC4"/>
                </a:solidFill>
                <a:latin typeface="Aptos"/>
              </a:rPr>
              <a:t>The ranking highlights artists with the strongest stream totals in the displayed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143000" cy="5029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1DB954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Post Malone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691640"/>
            <a:ext cx="6400800" cy="256032"/>
          </a:xfrm>
          <a:prstGeom prst="rect">
            <a:avLst/>
          </a:prstGeom>
          <a:solidFill>
            <a:srgbClr val="364840"/>
          </a:solidFill>
          <a:ln w="12700">
            <a:solidFill>
              <a:srgbClr val="36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691640"/>
            <a:ext cx="5760720" cy="2560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655064"/>
            <a:ext cx="1143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DB954"/>
                </a:solidFill>
                <a:latin typeface="Aptos"/>
              </a:rPr>
              <a:t>15.3bn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14016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Ed Sheeran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441448"/>
            <a:ext cx="6400800" cy="256032"/>
          </a:xfrm>
          <a:prstGeom prst="rect">
            <a:avLst/>
          </a:prstGeom>
          <a:solidFill>
            <a:srgbClr val="364840"/>
          </a:solidFill>
          <a:ln w="12700">
            <a:solidFill>
              <a:srgbClr val="36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441448"/>
            <a:ext cx="5421854" cy="2560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404872"/>
            <a:ext cx="1143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DB954"/>
                </a:solidFill>
                <a:latin typeface="Aptos"/>
              </a:rPr>
              <a:t>14.4bn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63824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Dua Lipa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3191256"/>
            <a:ext cx="6400800" cy="256032"/>
          </a:xfrm>
          <a:prstGeom prst="rect">
            <a:avLst/>
          </a:prstGeom>
          <a:solidFill>
            <a:srgbClr val="364840"/>
          </a:solidFill>
          <a:ln w="12700">
            <a:solidFill>
              <a:srgbClr val="36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3191256"/>
            <a:ext cx="5045336" cy="2560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3154680"/>
            <a:ext cx="1143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DB954"/>
                </a:solidFill>
                <a:latin typeface="Aptos"/>
              </a:rPr>
              <a:t>13.4bn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13632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XXXTENTACION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941064"/>
            <a:ext cx="6400800" cy="256032"/>
          </a:xfrm>
          <a:prstGeom prst="rect">
            <a:avLst/>
          </a:prstGeom>
          <a:solidFill>
            <a:srgbClr val="364840"/>
          </a:solidFill>
          <a:ln w="12700">
            <a:solidFill>
              <a:srgbClr val="36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3941064"/>
            <a:ext cx="4970032" cy="2560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3904488"/>
            <a:ext cx="1143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DB954"/>
                </a:solidFill>
                <a:latin typeface="Aptos"/>
              </a:rPr>
              <a:t>13.2bn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6344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The Weeknd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4690872"/>
            <a:ext cx="6400800" cy="256032"/>
          </a:xfrm>
          <a:prstGeom prst="rect">
            <a:avLst/>
          </a:prstGeom>
          <a:solidFill>
            <a:srgbClr val="364840"/>
          </a:solidFill>
          <a:ln w="12700">
            <a:solidFill>
              <a:srgbClr val="36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4640" y="4690872"/>
            <a:ext cx="4894729" cy="2560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4654296"/>
            <a:ext cx="1143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DB954"/>
                </a:solidFill>
                <a:latin typeface="Aptos"/>
              </a:rPr>
              <a:t>13.0bn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623560"/>
            <a:ext cx="10241280" cy="502920"/>
          </a:xfrm>
          <a:prstGeom prst="roundRect">
            <a:avLst/>
          </a:prstGeom>
          <a:solidFill>
            <a:srgbClr val="1E2D27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687568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ECCC4"/>
                </a:solidFill>
                <a:latin typeface="Aptos"/>
              </a:rPr>
              <a:t>Insight: the top five artists appear relatively close in stream volume, so small differences may still matter when comparing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6"/>
                </a:solidFill>
                <a:latin typeface="Aptos"/>
              </a:rPr>
              <a:t>Top tracks by YouTube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ECCC4"/>
                </a:solidFill>
                <a:latin typeface="Aptos"/>
              </a:rPr>
              <a:t>Video views help identify tracks with broad reach on the video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143000" cy="5029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1DB954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Despacito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1645920"/>
            <a:ext cx="5669280" cy="256032"/>
          </a:xfrm>
          <a:prstGeom prst="rect">
            <a:avLst/>
          </a:prstGeom>
          <a:solidFill>
            <a:srgbClr val="364840"/>
          </a:solidFill>
          <a:ln w="12700">
            <a:solidFill>
              <a:srgbClr val="36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200" y="1645920"/>
            <a:ext cx="5335792" cy="2560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160020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DB954"/>
                </a:solidFill>
                <a:latin typeface="Aptos"/>
              </a:rPr>
              <a:t>16.0bn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See You Again (feat. Charlie Puth)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2395727"/>
            <a:ext cx="5669280" cy="256032"/>
          </a:xfrm>
          <a:prstGeom prst="rect">
            <a:avLst/>
          </a:prstGeom>
          <a:solidFill>
            <a:srgbClr val="364840"/>
          </a:solidFill>
          <a:ln w="12700">
            <a:solidFill>
              <a:srgbClr val="36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2395727"/>
            <a:ext cx="3835101" cy="2560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350008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DB954"/>
                </a:solidFill>
                <a:latin typeface="Aptos"/>
              </a:rPr>
              <a:t>11.5bn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99815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Lean 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3145535"/>
            <a:ext cx="5669280" cy="256032"/>
          </a:xfrm>
          <a:prstGeom prst="rect">
            <a:avLst/>
          </a:prstGeom>
          <a:solidFill>
            <a:srgbClr val="364840"/>
          </a:solidFill>
          <a:ln w="12700">
            <a:solidFill>
              <a:srgbClr val="36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3145535"/>
            <a:ext cx="3334870" cy="2560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3099815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DB954"/>
                </a:solidFill>
                <a:latin typeface="Aptos"/>
              </a:rPr>
              <a:t>10.0bn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49624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Shape of 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3895344"/>
            <a:ext cx="5669280" cy="256032"/>
          </a:xfrm>
          <a:prstGeom prst="rect">
            <a:avLst/>
          </a:prstGeom>
          <a:solidFill>
            <a:srgbClr val="364840"/>
          </a:solidFill>
          <a:ln w="12700">
            <a:solidFill>
              <a:srgbClr val="36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3895344"/>
            <a:ext cx="1934224" cy="2560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3849624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DB954"/>
                </a:solidFill>
                <a:latin typeface="Aptos"/>
              </a:rPr>
              <a:t>5.8bn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1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Calma - Remix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4645151"/>
            <a:ext cx="5669280" cy="256032"/>
          </a:xfrm>
          <a:prstGeom prst="rect">
            <a:avLst/>
          </a:prstGeom>
          <a:solidFill>
            <a:srgbClr val="364840"/>
          </a:solidFill>
          <a:ln w="12700">
            <a:solidFill>
              <a:srgbClr val="36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4645151"/>
            <a:ext cx="1734132" cy="2560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4599431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DB954"/>
                </a:solidFill>
                <a:latin typeface="Aptos"/>
              </a:rPr>
              <a:t>5.2bn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CCC4"/>
                </a:solidFill>
                <a:latin typeface="Aptos"/>
              </a:rPr>
              <a:t>Despacito leads the displayed view ranking, while the remaining tracks show a wider spread in audience reach.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6"/>
                </a:solidFill>
                <a:latin typeface="Aptos"/>
              </a:rPr>
              <a:t>Track catalogue: album type &amp; licensing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ECCC4"/>
                </a:solidFill>
                <a:latin typeface="Aptos"/>
              </a:rPr>
              <a:t>Composition metrics describe the structure and licensing status of the available tracks.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143000" cy="5029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1DB954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251960"/>
          </a:xfrm>
          <a:prstGeom prst="roundRect">
            <a:avLst/>
          </a:prstGeom>
          <a:solidFill>
            <a:srgbClr val="283A32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5F8F6"/>
                </a:solidFill>
                <a:latin typeface="Aptos"/>
              </a:rPr>
              <a:t>Tracks by album type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143000" y="2286000"/>
          <a:ext cx="242316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0" y="2514600"/>
            <a:ext cx="1965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DB954"/>
                </a:solidFill>
                <a:latin typeface="Aptos"/>
              </a:rPr>
              <a:t>Album  •  72.04%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154680"/>
            <a:ext cx="1965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E90FF"/>
                </a:solidFill>
                <a:latin typeface="Aptos"/>
              </a:rPr>
              <a:t>Single  •  24.15%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794760"/>
            <a:ext cx="1965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ECCC4"/>
                </a:solidFill>
                <a:latin typeface="Aptos"/>
              </a:rPr>
              <a:t>Compilation  •  3.81%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16636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CC4"/>
                </a:solidFill>
                <a:latin typeface="Aptos"/>
              </a:rPr>
              <a:t>Albums make up the majority of tracks in the displayed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212080" cy="4251960"/>
          </a:xfrm>
          <a:prstGeom prst="roundRect">
            <a:avLst/>
          </a:prstGeom>
          <a:solidFill>
            <a:srgbClr val="283A32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5F8F6"/>
                </a:solidFill>
                <a:latin typeface="Aptos"/>
              </a:rPr>
              <a:t>Track licensing status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537960" y="2331720"/>
          <a:ext cx="246888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144000" y="251460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DB954"/>
                </a:solidFill>
                <a:latin typeface="Aptos"/>
              </a:rPr>
              <a:t>True  •  68.25%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5468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E90FF"/>
                </a:solidFill>
                <a:latin typeface="Aptos"/>
              </a:rPr>
              <a:t>False  •  29.48%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79476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ECCC4"/>
                </a:solidFill>
                <a:latin typeface="Aptos"/>
              </a:rPr>
              <a:t>Blank  •  2.27%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166360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CC4"/>
                </a:solidFill>
                <a:latin typeface="Aptos"/>
              </a:rPr>
              <a:t>Most tracks are marked True; the False and Blank categories may need further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6"/>
                </a:solidFill>
                <a:latin typeface="Aptos"/>
              </a:rPr>
              <a:t>Monthly performance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ECCC4"/>
                </a:solidFill>
                <a:latin typeface="Aptos"/>
              </a:rPr>
              <a:t>Year-over-year views and profit are presented as trend comparisons in the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143000" cy="5029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1DB954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4389120"/>
          </a:xfrm>
          <a:prstGeom prst="roundRect">
            <a:avLst/>
          </a:prstGeom>
          <a:solidFill>
            <a:srgbClr val="283A32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Monthly sales / views YoY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43000" y="2651760"/>
            <a:ext cx="502920" cy="320040"/>
          </a:xfrm>
          <a:prstGeom prst="line">
            <a:avLst/>
          </a:prstGeom>
          <a:ln w="3175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2971800"/>
            <a:ext cx="502920" cy="118872"/>
          </a:xfrm>
          <a:prstGeom prst="line">
            <a:avLst/>
          </a:prstGeom>
          <a:ln w="3175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148840" y="3035808"/>
            <a:ext cx="502920" cy="54864"/>
          </a:xfrm>
          <a:prstGeom prst="line">
            <a:avLst/>
          </a:prstGeom>
          <a:ln w="3175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51760" y="3035808"/>
            <a:ext cx="502920" cy="91440"/>
          </a:xfrm>
          <a:prstGeom prst="line">
            <a:avLst/>
          </a:prstGeom>
          <a:ln w="3175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54680" y="3063240"/>
            <a:ext cx="502920" cy="64008"/>
          </a:xfrm>
          <a:prstGeom prst="line">
            <a:avLst/>
          </a:prstGeom>
          <a:ln w="3175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0" y="3063240"/>
            <a:ext cx="502920" cy="109728"/>
          </a:xfrm>
          <a:prstGeom prst="line">
            <a:avLst/>
          </a:prstGeom>
          <a:ln w="3175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160520" y="3108960"/>
            <a:ext cx="502920" cy="64008"/>
          </a:xfrm>
          <a:prstGeom prst="line">
            <a:avLst/>
          </a:prstGeom>
          <a:ln w="3175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3108960"/>
            <a:ext cx="502920" cy="182880"/>
          </a:xfrm>
          <a:prstGeom prst="line">
            <a:avLst/>
          </a:prstGeom>
          <a:ln w="3175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66360" y="3291840"/>
            <a:ext cx="320040" cy="73152"/>
          </a:xfrm>
          <a:prstGeom prst="line">
            <a:avLst/>
          </a:prstGeom>
          <a:ln w="3175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" y="3886200"/>
            <a:ext cx="4526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CC4"/>
                </a:solidFill>
                <a:latin typeface="Aptos"/>
              </a:rPr>
              <a:t>Trend varies slightly, with a gradual downward movement toward the final category.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5257800" cy="4389120"/>
          </a:xfrm>
          <a:prstGeom prst="roundRect">
            <a:avLst/>
          </a:prstGeom>
          <a:solidFill>
            <a:srgbClr val="283A32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Monthly profit YoY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2514600"/>
            <a:ext cx="502920" cy="182880"/>
          </a:xfrm>
          <a:prstGeom prst="line">
            <a:avLst/>
          </a:prstGeom>
          <a:ln w="3175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32320" y="2697480"/>
            <a:ext cx="502920" cy="274320"/>
          </a:xfrm>
          <a:prstGeom prst="line">
            <a:avLst/>
          </a:prstGeom>
          <a:ln w="3175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35240" y="2971800"/>
            <a:ext cx="502920" cy="182880"/>
          </a:xfrm>
          <a:prstGeom prst="line">
            <a:avLst/>
          </a:prstGeom>
          <a:ln w="3175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38160" y="3154680"/>
            <a:ext cx="502920" cy="118872"/>
          </a:xfrm>
          <a:prstGeom prst="line">
            <a:avLst/>
          </a:prstGeom>
          <a:ln w="3175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3273552"/>
            <a:ext cx="502920" cy="182880"/>
          </a:xfrm>
          <a:prstGeom prst="line">
            <a:avLst/>
          </a:prstGeom>
          <a:ln w="3175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0" y="3456432"/>
            <a:ext cx="502920" cy="18288"/>
          </a:xfrm>
          <a:prstGeom prst="line">
            <a:avLst/>
          </a:prstGeom>
          <a:ln w="3175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46920" y="3474720"/>
            <a:ext cx="502920" cy="182880"/>
          </a:xfrm>
          <a:prstGeom prst="line">
            <a:avLst/>
          </a:prstGeom>
          <a:ln w="3175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49840" y="3657600"/>
            <a:ext cx="502920" cy="45720"/>
          </a:xfrm>
          <a:prstGeom prst="line">
            <a:avLst/>
          </a:prstGeom>
          <a:ln w="3175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52760" y="3703320"/>
            <a:ext cx="411480" cy="45719"/>
          </a:xfrm>
          <a:prstGeom prst="line">
            <a:avLst/>
          </a:prstGeom>
          <a:ln w="3175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37960" y="4069080"/>
            <a:ext cx="4526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CC4"/>
                </a:solidFill>
                <a:latin typeface="Aptos"/>
              </a:rPr>
              <a:t>The profit series declines across the displayed artist categories, suggesting a need to investigate what drives the difference.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6"/>
                </a:solidFill>
                <a:latin typeface="Aptos"/>
              </a:rPr>
              <a:t>Key findings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ECCC4"/>
                </a:solidFill>
                <a:latin typeface="Aptos"/>
              </a:rPr>
              <a:t>What the dashboard helps us understand.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143000" cy="5029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1DB954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8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DB954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554480"/>
            <a:ext cx="101681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5F8F6"/>
                </a:solidFill>
                <a:latin typeface="Aptos"/>
              </a:rPr>
              <a:t>The dataset reports approximately 3T Spotify streams, 2T YouTube views, 13bn likes and 21K tracks.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228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DB954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2212848"/>
            <a:ext cx="101681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5F8F6"/>
                </a:solidFill>
                <a:latin typeface="Aptos"/>
              </a:rPr>
              <a:t>Post Malone ranks first among the displayed artists by Spotify streams.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71215"/>
            <a:ext cx="228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DB954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871215"/>
            <a:ext cx="101681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5F8F6"/>
                </a:solidFill>
                <a:latin typeface="Aptos"/>
              </a:rPr>
              <a:t>Despacito has the highest YouTube view total among the tracks shown.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9584"/>
            <a:ext cx="228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DB954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529584"/>
            <a:ext cx="101681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5F8F6"/>
                </a:solidFill>
                <a:latin typeface="Aptos"/>
              </a:rPr>
              <a:t>Albums represent the largest share of the catalogue, at about 72%.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87952"/>
            <a:ext cx="228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DB954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4187952"/>
            <a:ext cx="101681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5F8F6"/>
                </a:solidFill>
                <a:latin typeface="Aptos"/>
              </a:rPr>
              <a:t>The monthly profit trend slopes downward across the displayed categories.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66360"/>
            <a:ext cx="10607040" cy="822960"/>
          </a:xfrm>
          <a:prstGeom prst="roundRect">
            <a:avLst/>
          </a:prstGeom>
          <a:solidFill>
            <a:srgbClr val="1E2D27"/>
          </a:solidFill>
          <a:ln w="12700">
            <a:solidFill>
              <a:srgbClr val="52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285232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DB954"/>
                </a:solidFill>
                <a:latin typeface="Aptos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230368"/>
            <a:ext cx="8458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8F6"/>
                </a:solidFill>
                <a:latin typeface="Aptos"/>
              </a:rPr>
              <a:t>The dashboard turns music-platform data into an accessible summary of reach, engagement and catalogue composition. Further analysis could validate trends over time and investigate the factors behind differences in artist performance.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263640"/>
            <a:ext cx="10241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CC4"/>
                </a:solidFill>
                <a:latin typeface="Aptos"/>
              </a:rPr>
              <a:t>Note: figures and trend descriptions are based on the supplied dashboard; rounded values are retained as displayed.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